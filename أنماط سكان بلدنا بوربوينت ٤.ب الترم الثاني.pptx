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58" r:id="rId4"/>
    <p:sldId id="260" r:id="rId5"/>
    <p:sldId id="261" r:id="rId6"/>
    <p:sldId id="269" r:id="rId7"/>
    <p:sldId id="262" r:id="rId8"/>
    <p:sldId id="264" r:id="rId9"/>
    <p:sldId id="263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58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7B08-5858-425F-A717-8917463FE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D0ED3-EB4A-4FAB-82E8-43A2ECD40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83E0F-EC3F-4203-A987-7EA097D2F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2176A-DF98-4582-9712-E58A0E1F2CB9}" type="datetimeFigureOut">
              <a:rPr lang="en-US" smtClean="0"/>
              <a:t>19-Feb-22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AB19F-B3A2-43E9-AF3B-A3841816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BF14C-3B0E-47CD-AD28-33CA6D34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16AB-495D-4BDF-A293-94BFBDF39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744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DE6EA-5CC0-4934-AE5C-71E95964F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30544-8533-439C-A81A-A7FC3034A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415A4-9ACC-4813-8FA0-8C4807C4A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2176A-DF98-4582-9712-E58A0E1F2CB9}" type="datetimeFigureOut">
              <a:rPr lang="en-US" smtClean="0"/>
              <a:t>19-Feb-22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A8D7B-03FC-4B40-B3B3-EAB5E6A6A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DB051-592B-4C82-A0A8-7A3DE61FC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16AB-495D-4BDF-A293-94BFBDF39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70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F6E5-8B06-4433-B45E-B793FE05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DFAFF-9761-403F-84B3-EC61AB4CD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894B1-78C6-44DB-84ED-805D644A3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2176A-DF98-4582-9712-E58A0E1F2CB9}" type="datetimeFigureOut">
              <a:rPr lang="en-US" smtClean="0"/>
              <a:t>19-Feb-22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34A60-58CA-4A71-AD3F-10F00325E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F43AD-B5DB-4050-AB12-1D78C10F0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16AB-495D-4BDF-A293-94BFBDF39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6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2482-7AF6-447B-B5CA-95C6A150A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6948B-41E8-45B0-9B13-4CD954DC71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23556-8039-4156-BBAB-68EED8133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77AF8-ABA3-42B4-8134-72D0D9B95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2176A-DF98-4582-9712-E58A0E1F2CB9}" type="datetimeFigureOut">
              <a:rPr lang="en-US" smtClean="0"/>
              <a:t>19-Feb-22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A816D-E3BB-42E1-9EE4-4659E425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6B35D-BE99-4D22-A1F2-7E24F5B4D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16AB-495D-4BDF-A293-94BFBDF39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79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06662-BD49-4A4C-A907-EE96D3377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9B4C6-5176-49FC-8643-324503B0E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C3EC9-4EE1-4F4A-A32A-75A72BA83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B22A66-B0B1-4DAD-8A84-DC06FEF855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2BDDA8-FFC4-4E81-94EB-2F9EEA0157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F96F3D-241D-45F2-BE6D-E9E978FEB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2176A-DF98-4582-9712-E58A0E1F2CB9}" type="datetimeFigureOut">
              <a:rPr lang="en-US" smtClean="0"/>
              <a:t>19-Feb-22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310451-4FF7-4507-9D58-E58BFA5E8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4B331B-5223-469B-8CEE-2E9617A2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16AB-495D-4BDF-A293-94BFBDF39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11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F99CE-241D-4936-B803-4985AE21E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EFB02-C314-4874-BC36-538F18907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2176A-DF98-4582-9712-E58A0E1F2CB9}" type="datetimeFigureOut">
              <a:rPr lang="en-US" smtClean="0"/>
              <a:t>19-Feb-22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6C01F-8ADA-486E-A5EE-9651F842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24A8C-8BE1-40DD-8472-6B867FB9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16AB-495D-4BDF-A293-94BFBDF39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53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43C9BE-FC4E-47B0-B22A-FF4B6C77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2176A-DF98-4582-9712-E58A0E1F2CB9}" type="datetimeFigureOut">
              <a:rPr lang="en-US" smtClean="0"/>
              <a:t>19-Feb-22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21AB29-6B69-4926-82EC-D481738B3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CD08A-6788-4792-B0EB-4768FFE6E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16AB-495D-4BDF-A293-94BFBDF39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89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ACBC2-1BC2-4894-807A-5C88AA46D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5F99E-3F12-4150-9D81-2ED06FFE8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7EB2D-E892-428B-9D71-E86139CA2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0C14C-5835-4F30-9C76-1921BF793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2176A-DF98-4582-9712-E58A0E1F2CB9}" type="datetimeFigureOut">
              <a:rPr lang="en-US" smtClean="0"/>
              <a:t>19-Feb-22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F9733-A648-4BD1-ABB6-DABA7F56D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58BE2-156B-4A9D-BBB5-8DC1DED2F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16AB-495D-4BDF-A293-94BFBDF39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402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44EFD-8A0E-4463-AC5F-B79A14893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077806-DED2-4512-ADC2-03A1D7864E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ABD7B3-A0A0-4BAB-A74C-9513EB488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0F651C-19F4-48B0-82C5-E8CCD763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2176A-DF98-4582-9712-E58A0E1F2CB9}" type="datetimeFigureOut">
              <a:rPr lang="en-US" smtClean="0"/>
              <a:t>19-Feb-22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31FBB-7B12-4E3A-8FFF-D200D9F86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023BE-9E72-43E6-AADE-DB84CE8C4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16AB-495D-4BDF-A293-94BFBDF39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89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2C79F-731B-4937-9557-1F63025E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30F1B8-4242-4851-8CA8-17B38C891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D1BD2-0D40-4C9D-9082-AC09097A3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2176A-DF98-4582-9712-E58A0E1F2CB9}" type="datetimeFigureOut">
              <a:rPr lang="en-US" smtClean="0"/>
              <a:t>19-Feb-22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1F8F7-0FC1-4EEB-BF19-51FFEB0A6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23FC2-851E-4323-B94A-F1485D98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16AB-495D-4BDF-A293-94BFBDF39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803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606EE8-4190-4863-B58F-17E87565EA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6BE7EB-D9CE-47E4-8B2F-E4636D93A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96455-43EB-4BB3-AF12-BDCCB0A2E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2176A-DF98-4582-9712-E58A0E1F2CB9}" type="datetimeFigureOut">
              <a:rPr lang="en-US" smtClean="0"/>
              <a:t>19-Feb-22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AECBB-E013-4CC1-9AB4-4236CF51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4C535-F7E8-4D0C-982C-E4CD2591A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A16AB-495D-4BDF-A293-94BFBDF39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40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D2DD5F-64FC-4256-BFEF-B15505253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E6F1D-48C7-4986-8252-463E58A23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F8C89-D39F-481A-A1C1-193587A31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2176A-DF98-4582-9712-E58A0E1F2CB9}" type="datetimeFigureOut">
              <a:rPr lang="en-US" smtClean="0"/>
              <a:t>19-Feb-22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03C85-E8AD-41EA-B032-A137AD670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7CF6B-1162-43F2-A90C-03A32B608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A16AB-495D-4BDF-A293-94BFBDF39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8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اجمل مناظر طبيعية في الريف المصري - Posts | Facebook">
            <a:extLst>
              <a:ext uri="{FF2B5EF4-FFF2-40B4-BE49-F238E27FC236}">
                <a16:creationId xmlns:a16="http://schemas.microsoft.com/office/drawing/2014/main" id="{B4F67421-7894-4FB5-AFFD-017425DE4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9754" y="1908311"/>
            <a:ext cx="3856383" cy="4880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الإسكان المصرية: 6 مدن جديدة تحت الدراسة للتنفيذ خلال الفترة المقبلة -  معلومات مباشر">
            <a:extLst>
              <a:ext uri="{FF2B5EF4-FFF2-40B4-BE49-F238E27FC236}">
                <a16:creationId xmlns:a16="http://schemas.microsoft.com/office/drawing/2014/main" id="{9126EE06-9C79-4A62-935C-5897C6046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1547" y="1908311"/>
            <a:ext cx="4108174" cy="48800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أسرة تعيد حياة البادية .. القطين والزفة وشبة النار">
            <a:extLst>
              <a:ext uri="{FF2B5EF4-FFF2-40B4-BE49-F238E27FC236}">
                <a16:creationId xmlns:a16="http://schemas.microsoft.com/office/drawing/2014/main" id="{4B749BE1-E1CD-4D3E-9F97-8F4F2D33D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9" y="1908312"/>
            <a:ext cx="3472066" cy="4880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20824ED-1F4A-40D1-8EF3-E30A59BDD754}"/>
              </a:ext>
            </a:extLst>
          </p:cNvPr>
          <p:cNvSpPr/>
          <p:nvPr/>
        </p:nvSpPr>
        <p:spPr>
          <a:xfrm>
            <a:off x="2422904" y="82046"/>
            <a:ext cx="6710084" cy="1653988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5400" b="1" i="1" dirty="0">
                <a:solidFill>
                  <a:srgbClr val="FFFF00"/>
                </a:solidFill>
                <a:latin typeface="Arial Black" panose="020B0A04020102020204" pitchFamily="34" charset="0"/>
              </a:rPr>
              <a:t>أنماط </a:t>
            </a:r>
            <a:r>
              <a:rPr lang="ar-EG" sz="5400" b="1" i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سكان بلدنا</a:t>
            </a:r>
            <a:endParaRPr lang="en-US" sz="5400" b="1" i="1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9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8653E303-453D-4014-9880-AA215DB643D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7219" y="604460"/>
            <a:ext cx="5147411" cy="5062916"/>
          </a:xfrm>
          <a:prstGeom prst="rect">
            <a:avLst/>
          </a:prstGeom>
        </p:spPr>
      </p:pic>
      <p:sp>
        <p:nvSpPr>
          <p:cNvPr id="3" name="Snip Same Side Corner Rectangle 2"/>
          <p:cNvSpPr/>
          <p:nvPr/>
        </p:nvSpPr>
        <p:spPr>
          <a:xfrm>
            <a:off x="3748275" y="1477422"/>
            <a:ext cx="7091175" cy="3876675"/>
          </a:xfrm>
          <a:prstGeom prst="snip2Same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8082361" y="676837"/>
            <a:ext cx="2514600" cy="100965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800" b="1" i="1" dirty="0" smtClean="0">
                <a:latin typeface="Arial Black" panose="020B0A04020102020204" pitchFamily="34" charset="0"/>
              </a:rPr>
              <a:t>الأهداف</a:t>
            </a:r>
            <a:endParaRPr lang="en-US" sz="4800" b="1" i="1" dirty="0"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09662" y="1701979"/>
            <a:ext cx="62872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ar-EG" sz="2800" b="1" u="sng" dirty="0">
                <a:solidFill>
                  <a:srgbClr val="00B0F0"/>
                </a:solidFill>
              </a:rPr>
              <a:t>في نهاية الدرس يجب ان يكون الطالب قادرا </a:t>
            </a:r>
            <a:r>
              <a:rPr lang="ar-EG" sz="2800" b="1" u="sng" dirty="0" smtClean="0">
                <a:solidFill>
                  <a:srgbClr val="00B0F0"/>
                </a:solidFill>
              </a:rPr>
              <a:t>علي أن </a:t>
            </a:r>
            <a:endParaRPr lang="ar-EG" sz="2800" b="1" u="sng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7175" y="2562226"/>
            <a:ext cx="6772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800" b="1" i="1" dirty="0" smtClean="0">
                <a:solidFill>
                  <a:srgbClr val="FF0000"/>
                </a:solidFill>
              </a:rPr>
              <a:t>1- قرأة خريطة توزيع سكان مصر.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15866" y="3591750"/>
            <a:ext cx="5840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800" b="1" i="1" dirty="0" smtClean="0">
                <a:solidFill>
                  <a:srgbClr val="FF0000"/>
                </a:solidFill>
              </a:rPr>
              <a:t>2- استنتاج خصائص السكان في مناطق مصر .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22473" y="4602184"/>
            <a:ext cx="6334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2800" b="1" i="1">
                <a:solidFill>
                  <a:srgbClr val="FF0000"/>
                </a:solidFill>
              </a:defRPr>
            </a:lvl1pPr>
          </a:lstStyle>
          <a:p>
            <a:r>
              <a:rPr lang="ar-EG" dirty="0" smtClean="0"/>
              <a:t>3- شرح اهمية تنوع انماط سكان مصر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8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206A87AA-ABF4-443C-BC1F-1F7A2184187C}"/>
              </a:ext>
            </a:extLst>
          </p:cNvPr>
          <p:cNvSpPr/>
          <p:nvPr/>
        </p:nvSpPr>
        <p:spPr>
          <a:xfrm>
            <a:off x="6758609" y="0"/>
            <a:ext cx="5347799" cy="1565784"/>
          </a:xfrm>
          <a:prstGeom prst="cloudCallout">
            <a:avLst>
              <a:gd name="adj1" fmla="val -25863"/>
              <a:gd name="adj2" fmla="val 78852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EG" sz="2800" b="1" dirty="0"/>
              <a:t>بلغ عدد سكان مصر نحو 102 مليون نسمة عام 2021 م </a:t>
            </a:r>
            <a:endParaRPr lang="en-US" sz="2800" b="1" dirty="0"/>
          </a:p>
        </p:txBody>
      </p:sp>
      <p:sp>
        <p:nvSpPr>
          <p:cNvPr id="3" name="Double Wave 2">
            <a:extLst>
              <a:ext uri="{FF2B5EF4-FFF2-40B4-BE49-F238E27FC236}">
                <a16:creationId xmlns:a16="http://schemas.microsoft.com/office/drawing/2014/main" id="{62016883-B5D6-406D-80AD-1BE2FD6EC751}"/>
              </a:ext>
            </a:extLst>
          </p:cNvPr>
          <p:cNvSpPr/>
          <p:nvPr/>
        </p:nvSpPr>
        <p:spPr>
          <a:xfrm>
            <a:off x="4959275" y="1603435"/>
            <a:ext cx="4156822" cy="919234"/>
          </a:xfrm>
          <a:prstGeom prst="doubleWave">
            <a:avLst>
              <a:gd name="adj1" fmla="val 0"/>
              <a:gd name="adj2" fmla="val 0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600" b="1" dirty="0">
                <a:solidFill>
                  <a:schemeClr val="bg2">
                    <a:lumMod val="10000"/>
                  </a:schemeClr>
                </a:solidFill>
                <a:latin typeface="Arial Black" panose="020B0A04020102020204" pitchFamily="34" charset="0"/>
              </a:rPr>
              <a:t>توزيع سكان مصر </a:t>
            </a:r>
            <a:endParaRPr lang="en-US" sz="3600" b="1" dirty="0">
              <a:solidFill>
                <a:schemeClr val="bg2">
                  <a:lumMod val="1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9D7B27-5FC0-4758-A5E0-7772A6763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31" y="131736"/>
            <a:ext cx="4418424" cy="34801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494E13-30C0-448B-BBCE-E0501E3399F6}"/>
              </a:ext>
            </a:extLst>
          </p:cNvPr>
          <p:cNvSpPr txBox="1"/>
          <p:nvPr/>
        </p:nvSpPr>
        <p:spPr>
          <a:xfrm>
            <a:off x="5735617" y="2668876"/>
            <a:ext cx="6013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800" b="1" dirty="0">
                <a:solidFill>
                  <a:srgbClr val="FF0000"/>
                </a:solidFill>
              </a:rPr>
              <a:t>يختلف توزيع السكان بين محافظات مصر 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A8DE2FA-FA57-4D6A-92B6-9DE9AC27DFAE}"/>
              </a:ext>
            </a:extLst>
          </p:cNvPr>
          <p:cNvSpPr/>
          <p:nvPr/>
        </p:nvSpPr>
        <p:spPr>
          <a:xfrm>
            <a:off x="4260027" y="3324114"/>
            <a:ext cx="7594899" cy="145228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b="1" i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rPr>
              <a:t>محافظات يقل عدد سكانها عن مليون نسمة مثل : محافظة جنوب سيناء ( لصعوبة مظاهر السطح و ندرة المياه )</a:t>
            </a:r>
            <a:endParaRPr lang="en-US" sz="2800" b="1" i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037A2C9-D2EE-4C5A-8E8C-93D3C0149FD0}"/>
              </a:ext>
            </a:extLst>
          </p:cNvPr>
          <p:cNvSpPr/>
          <p:nvPr/>
        </p:nvSpPr>
        <p:spPr>
          <a:xfrm>
            <a:off x="4959275" y="4776396"/>
            <a:ext cx="6789867" cy="145228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b="1" i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rPr>
              <a:t>محافظات يزيد عدد سكانها عنم 8 ملايين نسمة مثل : القاهرة و الجيزة</a:t>
            </a:r>
            <a:endParaRPr lang="en-US" sz="2800" b="1" i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Explosion 1 5">
            <a:extLst>
              <a:ext uri="{FF2B5EF4-FFF2-40B4-BE49-F238E27FC236}">
                <a16:creationId xmlns:a16="http://schemas.microsoft.com/office/drawing/2014/main" id="{054611FF-43AA-45A0-A319-4AD4CF99AF41}"/>
              </a:ext>
            </a:extLst>
          </p:cNvPr>
          <p:cNvSpPr/>
          <p:nvPr/>
        </p:nvSpPr>
        <p:spPr>
          <a:xfrm>
            <a:off x="0" y="3781859"/>
            <a:ext cx="4976419" cy="3232673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EG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القاهرة أعلي محافظات الجمهورية سكانها لانها عاصمة البلاد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95438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080001-391B-41A5-AF0C-49365571B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62835"/>
            <a:ext cx="4213988" cy="2633742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3E1EFD6C-40FD-4108-BBCE-BC92D6D5F903}"/>
              </a:ext>
            </a:extLst>
          </p:cNvPr>
          <p:cNvSpPr/>
          <p:nvPr/>
        </p:nvSpPr>
        <p:spPr>
          <a:xfrm>
            <a:off x="6895652" y="240541"/>
            <a:ext cx="4763588" cy="108857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EG" sz="4400" b="1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التعداد السكاني :</a:t>
            </a:r>
            <a:endParaRPr lang="en-US" sz="4400" b="1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341179E2-2FD2-4AC5-B641-70A2D390F819}"/>
              </a:ext>
            </a:extLst>
          </p:cNvPr>
          <p:cNvSpPr/>
          <p:nvPr/>
        </p:nvSpPr>
        <p:spPr>
          <a:xfrm>
            <a:off x="7487478" y="3541475"/>
            <a:ext cx="4612121" cy="1926803"/>
          </a:xfrm>
          <a:prstGeom prst="cloudCallou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28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بلغ عدد سكان مصر نحو 94.8 مليون نسمه وفق اخر تعداد عام 2017م</a:t>
            </a:r>
            <a:endParaRPr lang="en-US" sz="2800" b="1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8A50B4-6AD7-460D-BBC5-963481AA93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34" t="7370" b="48932"/>
          <a:stretch/>
        </p:blipFill>
        <p:spPr>
          <a:xfrm>
            <a:off x="3252005" y="5415291"/>
            <a:ext cx="5131398" cy="1202168"/>
          </a:xfrm>
          <a:prstGeom prst="rect">
            <a:avLst/>
          </a:prstGeom>
        </p:spPr>
      </p:pic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25901F99-21FE-4034-8A22-9C391A8C2F91}"/>
              </a:ext>
            </a:extLst>
          </p:cNvPr>
          <p:cNvSpPr/>
          <p:nvPr/>
        </p:nvSpPr>
        <p:spPr>
          <a:xfrm>
            <a:off x="861391" y="1442709"/>
            <a:ext cx="10797849" cy="2098766"/>
          </a:xfrm>
          <a:prstGeom prst="roundRect">
            <a:avLst/>
          </a:prstGeom>
          <a:solidFill>
            <a:schemeClr val="accent2">
              <a:alpha val="58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EG" sz="3600" b="1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هو قيام الدولة بحصر شامل للسكان كل 10 سنوات لتحديد الخدمات التى يحتاجها السكان .</a:t>
            </a:r>
            <a:endParaRPr lang="en-US" sz="3600" b="1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6301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F70FF0D-27F8-40A6-A53E-E4E355CE2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615" y="-22539"/>
            <a:ext cx="2252625" cy="1505095"/>
          </a:xfrm>
          <a:prstGeom prst="rect">
            <a:avLst/>
          </a:prstGeom>
        </p:spPr>
      </p:pic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121F0DD5-04EC-4FCE-A6AB-63BACB6C0208}"/>
              </a:ext>
            </a:extLst>
          </p:cNvPr>
          <p:cNvSpPr/>
          <p:nvPr/>
        </p:nvSpPr>
        <p:spPr>
          <a:xfrm>
            <a:off x="2886634" y="-50877"/>
            <a:ext cx="5357453" cy="1441525"/>
          </a:xfrm>
          <a:prstGeom prst="horizontalScroll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EG" sz="4000" b="1" i="1" dirty="0">
                <a:solidFill>
                  <a:srgbClr val="002060"/>
                </a:solidFill>
                <a:latin typeface="Arial Black" panose="020B0A04020102020204" pitchFamily="34" charset="0"/>
              </a:rPr>
              <a:t>أنماط ( أنواع ) سكان مصر</a:t>
            </a:r>
            <a:endParaRPr lang="en-US" sz="4000" b="1" i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63E2789-A8CD-4C1D-88BF-315A6AE50128}"/>
              </a:ext>
            </a:extLst>
          </p:cNvPr>
          <p:cNvSpPr/>
          <p:nvPr/>
        </p:nvSpPr>
        <p:spPr>
          <a:xfrm>
            <a:off x="10486185" y="2471501"/>
            <a:ext cx="1247887" cy="6104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b="1" i="1" dirty="0">
                <a:latin typeface="Arial Black" panose="020B0A04020102020204" pitchFamily="34" charset="0"/>
              </a:rPr>
              <a:t>مثال :</a:t>
            </a:r>
            <a:endParaRPr lang="en-US" sz="2400" b="1" i="1" dirty="0">
              <a:latin typeface="Arial Black" panose="020B0A04020102020204" pitchFamily="34" charset="0"/>
            </a:endParaRPr>
          </a:p>
        </p:txBody>
      </p:sp>
      <p:sp>
        <p:nvSpPr>
          <p:cNvPr id="6" name="Star: 7 Points 5">
            <a:extLst>
              <a:ext uri="{FF2B5EF4-FFF2-40B4-BE49-F238E27FC236}">
                <a16:creationId xmlns:a16="http://schemas.microsoft.com/office/drawing/2014/main" id="{D81B7D8C-FF8B-4C8C-833C-D4312E4DC607}"/>
              </a:ext>
            </a:extLst>
          </p:cNvPr>
          <p:cNvSpPr/>
          <p:nvPr/>
        </p:nvSpPr>
        <p:spPr>
          <a:xfrm>
            <a:off x="8498801" y="2740209"/>
            <a:ext cx="2161552" cy="1258644"/>
          </a:xfrm>
          <a:prstGeom prst="star7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b="1" i="1" dirty="0">
                <a:latin typeface="Arial Black" panose="020B0A04020102020204" pitchFamily="34" charset="0"/>
              </a:rPr>
              <a:t>القاهرة</a:t>
            </a:r>
            <a:endParaRPr lang="en-US" sz="2800" b="1" i="1" dirty="0">
              <a:latin typeface="Arial Black" panose="020B0A04020102020204" pitchFamily="34" charset="0"/>
            </a:endParaRPr>
          </a:p>
        </p:txBody>
      </p:sp>
      <p:sp>
        <p:nvSpPr>
          <p:cNvPr id="7" name="Star: 7 Points 6">
            <a:extLst>
              <a:ext uri="{FF2B5EF4-FFF2-40B4-BE49-F238E27FC236}">
                <a16:creationId xmlns:a16="http://schemas.microsoft.com/office/drawing/2014/main" id="{4E5D47B9-EB8B-41BD-9263-5E52DD0BE1A3}"/>
              </a:ext>
            </a:extLst>
          </p:cNvPr>
          <p:cNvSpPr/>
          <p:nvPr/>
        </p:nvSpPr>
        <p:spPr>
          <a:xfrm>
            <a:off x="5660280" y="3579207"/>
            <a:ext cx="2583807" cy="1355463"/>
          </a:xfrm>
          <a:prstGeom prst="star7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b="1" i="1" dirty="0">
                <a:latin typeface="Arial Black" panose="020B0A04020102020204" pitchFamily="34" charset="0"/>
              </a:rPr>
              <a:t>الاسكندرية</a:t>
            </a:r>
            <a:endParaRPr lang="en-US" sz="2800" b="1" i="1" dirty="0">
              <a:latin typeface="Arial Black" panose="020B0A04020102020204" pitchFamily="34" charset="0"/>
            </a:endParaRPr>
          </a:p>
        </p:txBody>
      </p:sp>
      <p:sp>
        <p:nvSpPr>
          <p:cNvPr id="8" name="Star: 7 Points 7">
            <a:extLst>
              <a:ext uri="{FF2B5EF4-FFF2-40B4-BE49-F238E27FC236}">
                <a16:creationId xmlns:a16="http://schemas.microsoft.com/office/drawing/2014/main" id="{93F05575-B254-4A6E-92D5-88BDFB9B4F9D}"/>
              </a:ext>
            </a:extLst>
          </p:cNvPr>
          <p:cNvSpPr/>
          <p:nvPr/>
        </p:nvSpPr>
        <p:spPr>
          <a:xfrm>
            <a:off x="2867136" y="2677072"/>
            <a:ext cx="2357596" cy="1355462"/>
          </a:xfrm>
          <a:prstGeom prst="star7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b="1" i="1" dirty="0">
                <a:latin typeface="Arial Black" panose="020B0A04020102020204" pitchFamily="34" charset="0"/>
              </a:rPr>
              <a:t>السويس</a:t>
            </a:r>
            <a:endParaRPr lang="en-US" sz="2800" b="1" i="1" dirty="0">
              <a:latin typeface="Arial Black" panose="020B0A04020102020204" pitchFamily="34" charset="0"/>
            </a:endParaRPr>
          </a:p>
        </p:txBody>
      </p:sp>
      <p:sp>
        <p:nvSpPr>
          <p:cNvPr id="9" name="Star: 7 Points 8">
            <a:extLst>
              <a:ext uri="{FF2B5EF4-FFF2-40B4-BE49-F238E27FC236}">
                <a16:creationId xmlns:a16="http://schemas.microsoft.com/office/drawing/2014/main" id="{95B4FEE9-33AE-47CB-91B6-D3DC41609778}"/>
              </a:ext>
            </a:extLst>
          </p:cNvPr>
          <p:cNvSpPr/>
          <p:nvPr/>
        </p:nvSpPr>
        <p:spPr>
          <a:xfrm>
            <a:off x="472733" y="3723251"/>
            <a:ext cx="2176629" cy="1355465"/>
          </a:xfrm>
          <a:prstGeom prst="star7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b="1" i="1" dirty="0">
                <a:latin typeface="Arial Black" panose="020B0A04020102020204" pitchFamily="34" charset="0"/>
              </a:rPr>
              <a:t>بورسعيد</a:t>
            </a:r>
            <a:endParaRPr lang="en-US" sz="2800" b="1" i="1" dirty="0">
              <a:latin typeface="Arial Black" panose="020B0A04020102020204" pitchFamily="34" charset="0"/>
            </a:endParaRPr>
          </a:p>
        </p:txBody>
      </p:sp>
      <p:sp>
        <p:nvSpPr>
          <p:cNvPr id="12" name="Rectangle: Top Corners Snipped 11">
            <a:extLst>
              <a:ext uri="{FF2B5EF4-FFF2-40B4-BE49-F238E27FC236}">
                <a16:creationId xmlns:a16="http://schemas.microsoft.com/office/drawing/2014/main" id="{659BD6C6-9180-49E4-BD6C-AA8DC802CAC6}"/>
              </a:ext>
            </a:extLst>
          </p:cNvPr>
          <p:cNvSpPr/>
          <p:nvPr/>
        </p:nvSpPr>
        <p:spPr>
          <a:xfrm>
            <a:off x="6783390" y="5344659"/>
            <a:ext cx="3574734" cy="894115"/>
          </a:xfrm>
          <a:prstGeom prst="snip2Same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EG" sz="2800" b="1" i="1" dirty="0">
                <a:solidFill>
                  <a:srgbClr val="FF0000"/>
                </a:solidFill>
                <a:latin typeface="Arial Black" panose="020B0A04020102020204" pitchFamily="34" charset="0"/>
              </a:rPr>
              <a:t>نسبة سكان الحضر : 42.4% من سكان مصر</a:t>
            </a:r>
            <a:endParaRPr lang="en-US" sz="2800" b="1" i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Picture 10" descr="How To Be: صفات المبدعين">
            <a:extLst>
              <a:ext uri="{FF2B5EF4-FFF2-40B4-BE49-F238E27FC236}">
                <a16:creationId xmlns:a16="http://schemas.microsoft.com/office/drawing/2014/main" id="{8D389B02-1596-4D39-964E-E5421FC71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5581" y="4139409"/>
            <a:ext cx="1626419" cy="252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hought Bubble: Cloud 2">
            <a:extLst>
              <a:ext uri="{FF2B5EF4-FFF2-40B4-BE49-F238E27FC236}">
                <a16:creationId xmlns:a16="http://schemas.microsoft.com/office/drawing/2014/main" id="{DB9AA2F8-60D0-4061-8EA3-3D5AFFEA3E88}"/>
              </a:ext>
            </a:extLst>
          </p:cNvPr>
          <p:cNvSpPr/>
          <p:nvPr/>
        </p:nvSpPr>
        <p:spPr>
          <a:xfrm>
            <a:off x="7964245" y="1031884"/>
            <a:ext cx="4227755" cy="1201517"/>
          </a:xfrm>
          <a:prstGeom prst="cloudCallout">
            <a:avLst>
              <a:gd name="adj1" fmla="val -31177"/>
              <a:gd name="adj2" fmla="val 9546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3200" b="1" i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rPr>
              <a:t>1- سكان الحضر </a:t>
            </a:r>
            <a:endParaRPr lang="en-US" sz="3200" b="1" i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E9F554-F995-45C4-A0E0-E4452CD5D469}"/>
              </a:ext>
            </a:extLst>
          </p:cNvPr>
          <p:cNvSpPr/>
          <p:nvPr/>
        </p:nvSpPr>
        <p:spPr>
          <a:xfrm>
            <a:off x="809199" y="1500902"/>
            <a:ext cx="7046260" cy="11020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ar-EG" sz="2800" b="1" dirty="0">
              <a:latin typeface="Arial Black" panose="020B0A04020102020204" pitchFamily="34" charset="0"/>
            </a:endParaRPr>
          </a:p>
          <a:p>
            <a:pPr algn="ctr" rtl="1"/>
            <a:r>
              <a:rPr lang="ar-EG" sz="2800" b="1" dirty="0">
                <a:latin typeface="Arial Black" panose="020B0A04020102020204" pitchFamily="34" charset="0"/>
              </a:rPr>
              <a:t>هم الذين يسكنون المدن ويعملون في </a:t>
            </a:r>
            <a:r>
              <a:rPr lang="ar-EG" sz="2800" b="1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الصناعة و التجارة والسياحة والخدمات </a:t>
            </a:r>
            <a:r>
              <a:rPr lang="ar-EG" sz="2800" b="1" dirty="0">
                <a:latin typeface="Arial Black" panose="020B0A04020102020204" pitchFamily="34" charset="0"/>
              </a:rPr>
              <a:t>( التعليمية و الصحية والمصرفيه )</a:t>
            </a:r>
          </a:p>
          <a:p>
            <a:pPr algn="ctr"/>
            <a:r>
              <a:rPr lang="ar-EG" sz="2800" b="1" dirty="0">
                <a:latin typeface="Arial Black" panose="020B0A04020102020204" pitchFamily="34" charset="0"/>
              </a:rPr>
              <a:t> </a:t>
            </a:r>
            <a:endParaRPr lang="en-US" sz="28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67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6" dur="2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8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A9E89D-F8FD-4AC9-8517-E7B9E285EA8E}"/>
              </a:ext>
            </a:extLst>
          </p:cNvPr>
          <p:cNvSpPr/>
          <p:nvPr/>
        </p:nvSpPr>
        <p:spPr>
          <a:xfrm>
            <a:off x="5976382" y="802747"/>
            <a:ext cx="5056054" cy="78475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EG" sz="2800" b="1" i="1" dirty="0">
                <a:solidFill>
                  <a:srgbClr val="FF0000"/>
                </a:solidFill>
              </a:rPr>
              <a:t>تنخفض نسبة الامية بين سكان الحضر ؟؟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9F2AFC-D589-413A-9F76-FA1A29C33848}"/>
              </a:ext>
            </a:extLst>
          </p:cNvPr>
          <p:cNvSpPr txBox="1"/>
          <p:nvPr/>
        </p:nvSpPr>
        <p:spPr>
          <a:xfrm>
            <a:off x="4517254" y="1541116"/>
            <a:ext cx="53670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EG" sz="2800" b="1" i="1" dirty="0"/>
              <a:t>بسبب  أ) انتشار المؤسسات التعليمية         </a:t>
            </a:r>
          </a:p>
          <a:p>
            <a:pPr algn="r" rtl="1"/>
            <a:r>
              <a:rPr lang="ar-EG" sz="2800" b="1" i="1" dirty="0"/>
              <a:t>      ب) ارتفاع مستوى المعيشة</a:t>
            </a:r>
            <a:endParaRPr lang="en-US" sz="28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CB4E1F-583C-48C3-B637-65028564A5CE}"/>
              </a:ext>
            </a:extLst>
          </p:cNvPr>
          <p:cNvSpPr txBox="1"/>
          <p:nvPr/>
        </p:nvSpPr>
        <p:spPr>
          <a:xfrm>
            <a:off x="4398670" y="4665326"/>
            <a:ext cx="50560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2000" b="1" i="1"/>
            </a:lvl1pPr>
          </a:lstStyle>
          <a:p>
            <a:pPr rtl="1"/>
            <a:r>
              <a:rPr lang="ar-EG" sz="2800" dirty="0"/>
              <a:t>1- زيادة الضغط علي الخدمات في المدن</a:t>
            </a:r>
          </a:p>
          <a:p>
            <a:pPr rtl="1"/>
            <a:r>
              <a:rPr lang="ar-EG" sz="2800" dirty="0"/>
              <a:t>2- ظهور العشوائيات </a:t>
            </a:r>
            <a:endParaRPr lang="en-US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9C1711-BE2F-4513-A505-C1FE73DE55F7}"/>
              </a:ext>
            </a:extLst>
          </p:cNvPr>
          <p:cNvSpPr/>
          <p:nvPr/>
        </p:nvSpPr>
        <p:spPr>
          <a:xfrm>
            <a:off x="5090489" y="3885854"/>
            <a:ext cx="4468738" cy="5486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EG" sz="2800" b="1" i="1" dirty="0">
                <a:solidFill>
                  <a:srgbClr val="FF0000"/>
                </a:solidFill>
              </a:rPr>
              <a:t>هجرة سكان الريف للمدن؟؟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582" y="177595"/>
            <a:ext cx="2245632" cy="27270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86923" y="94861"/>
            <a:ext cx="8460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2000" b="1" i="1" dirty="0" smtClean="0"/>
              <a:t>بم تفسر ؟؟</a:t>
            </a:r>
            <a:endParaRPr lang="en-US" sz="2000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3B68C5-902E-40BF-AE7F-9ECE6F669290}"/>
              </a:ext>
            </a:extLst>
          </p:cNvPr>
          <p:cNvSpPr txBox="1"/>
          <p:nvPr/>
        </p:nvSpPr>
        <p:spPr>
          <a:xfrm>
            <a:off x="9814652" y="3583439"/>
            <a:ext cx="1649782" cy="964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2800" b="1" i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ما الاثر الناتج؟؟</a:t>
            </a:r>
            <a:endParaRPr lang="en-US" sz="2800" b="1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3" name="Picture 12" descr="Fay3 - صور لـ #سؤال #التفكير #علامة_استفهام #يفكر #يعتبر">
            <a:extLst>
              <a:ext uri="{FF2B5EF4-FFF2-40B4-BE49-F238E27FC236}">
                <a16:creationId xmlns:a16="http://schemas.microsoft.com/office/drawing/2014/main" id="{666D50B6-1E48-4125-983F-DD8216DBE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3768" y="4547925"/>
            <a:ext cx="1646091" cy="1646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33" y="3821749"/>
            <a:ext cx="4234337" cy="282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34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5" grpId="0"/>
      <p:bldP spid="7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ow To Be: صفات المبدعين">
            <a:extLst>
              <a:ext uri="{FF2B5EF4-FFF2-40B4-BE49-F238E27FC236}">
                <a16:creationId xmlns:a16="http://schemas.microsoft.com/office/drawing/2014/main" id="{75EBFCFF-BEA7-4B86-849D-1438B57F7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185" y="1224499"/>
            <a:ext cx="1705815" cy="264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EFE8BFE3-E45D-4971-B663-D1D305DB8B95}"/>
              </a:ext>
            </a:extLst>
          </p:cNvPr>
          <p:cNvSpPr/>
          <p:nvPr/>
        </p:nvSpPr>
        <p:spPr>
          <a:xfrm>
            <a:off x="7964245" y="297708"/>
            <a:ext cx="4227755" cy="763793"/>
          </a:xfrm>
          <a:prstGeom prst="cloudCallou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3200" b="1" i="1" dirty="0" smtClean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rPr>
              <a:t>2</a:t>
            </a:r>
            <a:r>
              <a:rPr lang="ar-EG" sz="3200" b="1" i="1" dirty="0" smtClean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rPr>
              <a:t>- </a:t>
            </a:r>
            <a:r>
              <a:rPr lang="ar-EG" sz="3200" b="1" i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rPr>
              <a:t>سكان الريف </a:t>
            </a:r>
            <a:endParaRPr lang="en-US" sz="3200" b="1" i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89CDDC-4EC4-41AD-91A3-F7B4389AF213}"/>
              </a:ext>
            </a:extLst>
          </p:cNvPr>
          <p:cNvSpPr/>
          <p:nvPr/>
        </p:nvSpPr>
        <p:spPr>
          <a:xfrm>
            <a:off x="453669" y="195925"/>
            <a:ext cx="7046260" cy="1355465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 rtl="1"/>
            <a:r>
              <a:rPr lang="ar-EG" sz="3600" b="1" dirty="0">
                <a:latin typeface="Arial Black" panose="020B0A04020102020204" pitchFamily="34" charset="0"/>
              </a:rPr>
              <a:t>هم الذين يسكنون القرى ويعملون في </a:t>
            </a:r>
            <a:r>
              <a:rPr lang="ar-EG" sz="3600" b="1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الزراعة وتربية الحيوان</a:t>
            </a:r>
            <a:endParaRPr lang="en-US" sz="3600" b="1" dirty="0">
              <a:latin typeface="Arial Black" panose="020B0A04020102020204" pitchFamily="34" charset="0"/>
            </a:endParaRPr>
          </a:p>
        </p:txBody>
      </p:sp>
      <p:sp>
        <p:nvSpPr>
          <p:cNvPr id="4" name="Rectangle: Top Corners Snipped 3">
            <a:extLst>
              <a:ext uri="{FF2B5EF4-FFF2-40B4-BE49-F238E27FC236}">
                <a16:creationId xmlns:a16="http://schemas.microsoft.com/office/drawing/2014/main" id="{F404CE57-6542-4797-9ADF-AA039EFA4362}"/>
              </a:ext>
            </a:extLst>
          </p:cNvPr>
          <p:cNvSpPr/>
          <p:nvPr/>
        </p:nvSpPr>
        <p:spPr>
          <a:xfrm>
            <a:off x="7240556" y="1707179"/>
            <a:ext cx="3359727" cy="1356685"/>
          </a:xfrm>
          <a:prstGeom prst="snip2Same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EG" sz="2800" b="1" i="1" dirty="0">
                <a:solidFill>
                  <a:srgbClr val="FF0000"/>
                </a:solidFill>
                <a:latin typeface="Arial Black" panose="020B0A04020102020204" pitchFamily="34" charset="0"/>
              </a:rPr>
              <a:t>نسبة سكان الريف : 57.6% من سكان مصر</a:t>
            </a:r>
            <a:endParaRPr lang="en-US" sz="2800" b="1" i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Picture 5" descr="Fay3 - صور لـ #سؤال #التفكير #علامة_استفهام #يفكر #يعتبر">
            <a:extLst>
              <a:ext uri="{FF2B5EF4-FFF2-40B4-BE49-F238E27FC236}">
                <a16:creationId xmlns:a16="http://schemas.microsoft.com/office/drawing/2014/main" id="{621CDF96-6D01-4F7A-AEDC-F0C3E80C5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303" y="3564850"/>
            <a:ext cx="1708326" cy="170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D50BC92-279B-4215-A695-54BEE965ACD1}"/>
              </a:ext>
            </a:extLst>
          </p:cNvPr>
          <p:cNvSpPr/>
          <p:nvPr/>
        </p:nvSpPr>
        <p:spPr>
          <a:xfrm>
            <a:off x="5976729" y="3661023"/>
            <a:ext cx="4020067" cy="10323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EG" sz="3200" b="1" i="1" dirty="0">
                <a:solidFill>
                  <a:srgbClr val="FF0000"/>
                </a:solidFill>
              </a:rPr>
              <a:t>يزيد حجم الاسرة في الريف عن الحضر؟؟</a:t>
            </a:r>
            <a:endParaRPr lang="en-US" sz="3200" b="1" i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9EAD36-2BC0-4B39-94CC-68057D2A3CC2}"/>
              </a:ext>
            </a:extLst>
          </p:cNvPr>
          <p:cNvSpPr txBox="1"/>
          <p:nvPr/>
        </p:nvSpPr>
        <p:spPr>
          <a:xfrm>
            <a:off x="5279847" y="4720784"/>
            <a:ext cx="4716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EG" sz="2400" b="1" i="1" dirty="0"/>
              <a:t>بسبب  أ) كثرة الانجاب</a:t>
            </a:r>
          </a:p>
          <a:p>
            <a:pPr algn="r" rtl="1"/>
            <a:r>
              <a:rPr lang="ar-EG" sz="2400" b="1" i="1" dirty="0"/>
              <a:t>      ب) الزواج المبكر في الريف</a:t>
            </a:r>
            <a:endParaRPr lang="en-US" sz="2400" b="1" i="1" dirty="0"/>
          </a:p>
        </p:txBody>
      </p:sp>
      <p:sp>
        <p:nvSpPr>
          <p:cNvPr id="13" name="Thought Bubble: Cloud 12">
            <a:extLst>
              <a:ext uri="{FF2B5EF4-FFF2-40B4-BE49-F238E27FC236}">
                <a16:creationId xmlns:a16="http://schemas.microsoft.com/office/drawing/2014/main" id="{6D9399DC-89E3-433D-A7F7-59E8F1A75695}"/>
              </a:ext>
            </a:extLst>
          </p:cNvPr>
          <p:cNvSpPr/>
          <p:nvPr/>
        </p:nvSpPr>
        <p:spPr>
          <a:xfrm>
            <a:off x="4439994" y="1790442"/>
            <a:ext cx="2726482" cy="1856856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EG" sz="2400" b="1" i="1" dirty="0"/>
              <a:t>ترتفع نسبة الامية في الريف عن المدن </a:t>
            </a:r>
            <a:endParaRPr lang="en-US" sz="2400" b="1" i="1" dirty="0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674E95AA-2167-4249-8DB7-F4A048D32B36}"/>
              </a:ext>
            </a:extLst>
          </p:cNvPr>
          <p:cNvSpPr/>
          <p:nvPr/>
        </p:nvSpPr>
        <p:spPr>
          <a:xfrm>
            <a:off x="9996796" y="3526467"/>
            <a:ext cx="2119788" cy="1496428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EG" sz="2400" b="1" dirty="0">
                <a:solidFill>
                  <a:srgbClr val="FF0000"/>
                </a:solidFill>
                <a:latin typeface="Arial Black" panose="020B0A04020102020204" pitchFamily="34" charset="0"/>
              </a:rPr>
              <a:t>المشكلات</a:t>
            </a:r>
            <a:r>
              <a:rPr lang="ar-EG" sz="2400" b="1" dirty="0">
                <a:solidFill>
                  <a:srgbClr val="FF0000"/>
                </a:solidFill>
              </a:rPr>
              <a:t> التي يواجهها 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633B38-8A98-4BF0-B305-5F310781EA97}"/>
              </a:ext>
            </a:extLst>
          </p:cNvPr>
          <p:cNvSpPr/>
          <p:nvPr/>
        </p:nvSpPr>
        <p:spPr>
          <a:xfrm>
            <a:off x="136106" y="2986895"/>
            <a:ext cx="4118194" cy="146004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EG" sz="2800" b="1" i="1" dirty="0">
                <a:solidFill>
                  <a:srgbClr val="FF0000"/>
                </a:solidFill>
              </a:rPr>
              <a:t>انخفاض الدخل وانخفاض مستوى المعيشة </a:t>
            </a:r>
            <a:r>
              <a:rPr lang="ar-EG" sz="2800" b="1" i="1" dirty="0">
                <a:solidFill>
                  <a:srgbClr val="00B050"/>
                </a:solidFill>
              </a:rPr>
              <a:t>لقلة الخدمات و نقص فرص العمل </a:t>
            </a:r>
            <a:endParaRPr lang="en-US" sz="2800" b="1" i="1" dirty="0">
              <a:solidFill>
                <a:srgbClr val="00B050"/>
              </a:solidFill>
            </a:endParaRPr>
          </a:p>
        </p:txBody>
      </p:sp>
      <p:sp>
        <p:nvSpPr>
          <p:cNvPr id="16" name="Flowchart: Document 15">
            <a:extLst>
              <a:ext uri="{FF2B5EF4-FFF2-40B4-BE49-F238E27FC236}">
                <a16:creationId xmlns:a16="http://schemas.microsoft.com/office/drawing/2014/main" id="{D5B39C7F-500F-4FC1-BD5B-506D983C3161}"/>
              </a:ext>
            </a:extLst>
          </p:cNvPr>
          <p:cNvSpPr/>
          <p:nvPr/>
        </p:nvSpPr>
        <p:spPr>
          <a:xfrm>
            <a:off x="2584174" y="5668573"/>
            <a:ext cx="9486438" cy="1189428"/>
          </a:xfrm>
          <a:prstGeom prst="flowChartDocumen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32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- لذلك تقوم الدولة بتوعية الشباب لاهمية تنظيم الاسرةوتقليل الانجاب </a:t>
            </a:r>
          </a:p>
          <a:p>
            <a:pPr algn="ctr" rtl="1"/>
            <a:r>
              <a:rPr lang="ar-EG" sz="32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- اطلاق مبادرات لتنمية الريف مثل مبادرة </a:t>
            </a:r>
            <a:r>
              <a:rPr lang="ar-EG" sz="3200" b="1" dirty="0">
                <a:solidFill>
                  <a:srgbClr val="00B050"/>
                </a:solidFill>
                <a:latin typeface="Arial Black" panose="020B0A04020102020204" pitchFamily="34" charset="0"/>
              </a:rPr>
              <a:t>( حياة كريمة )</a:t>
            </a:r>
            <a:endParaRPr lang="en-US" sz="3200" b="1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5B0E73-64B7-4C64-8CAF-FF7D8D97B1F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5" y="4678601"/>
            <a:ext cx="2166769" cy="216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2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/>
      <p:bldP spid="13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024AA4C6-160E-4747-A5CC-8F5CF3B53929}"/>
              </a:ext>
            </a:extLst>
          </p:cNvPr>
          <p:cNvSpPr/>
          <p:nvPr/>
        </p:nvSpPr>
        <p:spPr>
          <a:xfrm>
            <a:off x="2107096" y="95075"/>
            <a:ext cx="6824870" cy="1659616"/>
          </a:xfrm>
          <a:prstGeom prst="horizontalScroll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36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المشروع القومى لتنمية الريف المصرى </a:t>
            </a:r>
          </a:p>
          <a:p>
            <a:pPr algn="ctr" rtl="1"/>
            <a:r>
              <a:rPr lang="ar-EG" sz="36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(2014 – 2030 م )</a:t>
            </a:r>
            <a:endParaRPr lang="en-US" sz="3600" b="1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22F1EE46-CF49-47DB-BA4A-2FECBE1EEBF8}"/>
              </a:ext>
            </a:extLst>
          </p:cNvPr>
          <p:cNvSpPr/>
          <p:nvPr/>
        </p:nvSpPr>
        <p:spPr>
          <a:xfrm>
            <a:off x="8931966" y="364393"/>
            <a:ext cx="2590256" cy="1032734"/>
          </a:xfrm>
          <a:prstGeom prst="cloudCallou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2800" b="1" i="1" dirty="0"/>
              <a:t>بم تفسر اهمية ؟؟</a:t>
            </a:r>
            <a:endParaRPr lang="en-US" sz="28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5E64F-FF59-4627-8EA2-A8AC50AE0C3B}"/>
              </a:ext>
            </a:extLst>
          </p:cNvPr>
          <p:cNvSpPr txBox="1"/>
          <p:nvPr/>
        </p:nvSpPr>
        <p:spPr>
          <a:xfrm>
            <a:off x="4181139" y="2033195"/>
            <a:ext cx="7379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825228-67DE-4598-B4B7-17A105643FCB}"/>
              </a:ext>
            </a:extLst>
          </p:cNvPr>
          <p:cNvSpPr txBox="1"/>
          <p:nvPr/>
        </p:nvSpPr>
        <p:spPr>
          <a:xfrm>
            <a:off x="4902986" y="1772529"/>
            <a:ext cx="71825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2800" b="1" dirty="0"/>
              <a:t>1-  يستهدف المشروع تحسين مستوى الخدمات كالتعليم والصحة والبنية الاساسية كالصرف الصحي والطرق .</a:t>
            </a:r>
            <a:endParaRPr lang="en-US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0FA088-D4DA-49AF-B7DC-2A9D8D00DBEC}"/>
              </a:ext>
            </a:extLst>
          </p:cNvPr>
          <p:cNvSpPr txBox="1"/>
          <p:nvPr/>
        </p:nvSpPr>
        <p:spPr>
          <a:xfrm>
            <a:off x="5004801" y="2620090"/>
            <a:ext cx="6981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2800" b="1" dirty="0"/>
              <a:t>2- تحسين مستوى الدخل و مستوى معيشة سكان الريف </a:t>
            </a:r>
            <a:r>
              <a:rPr lang="ar-EG" sz="2400" b="1" dirty="0"/>
              <a:t>.</a:t>
            </a:r>
            <a:endParaRPr lang="en-US" sz="2400" b="1" dirty="0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F7E0B725-A700-459A-9D63-364D6C377D83}"/>
              </a:ext>
            </a:extLst>
          </p:cNvPr>
          <p:cNvSpPr/>
          <p:nvPr/>
        </p:nvSpPr>
        <p:spPr>
          <a:xfrm>
            <a:off x="3329117" y="4189286"/>
            <a:ext cx="2581353" cy="461665"/>
          </a:xfrm>
          <a:prstGeom prst="round2Same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عدم تنظيم الاسرة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A9B697BB-7CCE-45D9-B7CE-6FCFFEC73834}"/>
              </a:ext>
            </a:extLst>
          </p:cNvPr>
          <p:cNvSpPr/>
          <p:nvPr/>
        </p:nvSpPr>
        <p:spPr>
          <a:xfrm>
            <a:off x="2709763" y="4717189"/>
            <a:ext cx="3519541" cy="2103043"/>
          </a:xfrm>
          <a:prstGeom prst="flowChart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ar-EG" sz="2800" b="1" dirty="0"/>
              <a:t>- زيادة السكان مقارنة بالموارد</a:t>
            </a:r>
          </a:p>
          <a:p>
            <a:pPr algn="r" rtl="1"/>
            <a:r>
              <a:rPr lang="ar-EG" sz="2800" b="1" dirty="0"/>
              <a:t>- يؤثر سلبآ علي التنمية </a:t>
            </a:r>
            <a:endParaRPr lang="en-US" sz="2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D2505A-3709-43A0-9287-28E932E52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38" y="1767939"/>
            <a:ext cx="4162835" cy="22615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59676C7-2826-454F-A4D9-0F4F5B55E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4933" y="5003201"/>
            <a:ext cx="1806609" cy="131889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A982878-C930-401A-BD3B-ABD9E57B0F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38" y="4710148"/>
            <a:ext cx="2400300" cy="1905000"/>
          </a:xfrm>
          <a:prstGeom prst="rect">
            <a:avLst/>
          </a:prstGeom>
        </p:spPr>
      </p:pic>
      <p:sp>
        <p:nvSpPr>
          <p:cNvPr id="17" name="Rectangle: Top Corners Rounded 10">
            <a:extLst>
              <a:ext uri="{FF2B5EF4-FFF2-40B4-BE49-F238E27FC236}">
                <a16:creationId xmlns:a16="http://schemas.microsoft.com/office/drawing/2014/main" id="{A22EA8F9-7565-4CD8-955F-F427BB4D380A}"/>
              </a:ext>
            </a:extLst>
          </p:cNvPr>
          <p:cNvSpPr/>
          <p:nvPr/>
        </p:nvSpPr>
        <p:spPr>
          <a:xfrm>
            <a:off x="7154335" y="4141152"/>
            <a:ext cx="2054711" cy="461665"/>
          </a:xfrm>
          <a:prstGeom prst="round2Same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تنظيم الاسرة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2AEB383F-18D3-4918-8A14-8BB10A497B78}"/>
              </a:ext>
            </a:extLst>
          </p:cNvPr>
          <p:cNvSpPr/>
          <p:nvPr/>
        </p:nvSpPr>
        <p:spPr>
          <a:xfrm>
            <a:off x="6427473" y="4710148"/>
            <a:ext cx="3669291" cy="2103043"/>
          </a:xfrm>
          <a:prstGeom prst="flowChart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ar-EG" sz="2800" b="1" dirty="0"/>
              <a:t>- يساعد علي تربية الطفل وتعليمه بشكل جيد</a:t>
            </a:r>
          </a:p>
          <a:p>
            <a:pPr algn="r" rtl="1"/>
            <a:r>
              <a:rPr lang="ar-EG" sz="2400" b="1" dirty="0"/>
              <a:t>-  </a:t>
            </a:r>
            <a:r>
              <a:rPr lang="ar-EG" sz="2800" b="1" dirty="0"/>
              <a:t>يحافظ علي صحة</a:t>
            </a:r>
            <a:r>
              <a:rPr lang="ar-EG" sz="2400" b="1" dirty="0"/>
              <a:t> </a:t>
            </a:r>
            <a:r>
              <a:rPr lang="ar-EG" sz="2800" b="1" dirty="0"/>
              <a:t>المرأة </a:t>
            </a:r>
          </a:p>
          <a:p>
            <a:pPr algn="r" rtl="1"/>
            <a:r>
              <a:rPr lang="ar-EG" sz="2400" b="1" dirty="0"/>
              <a:t>-  </a:t>
            </a:r>
            <a:r>
              <a:rPr lang="ar-EG" sz="2800" b="1" dirty="0"/>
              <a:t>يقلل وفيات الرضع .</a:t>
            </a:r>
            <a:endParaRPr lang="en-US" sz="2400" b="1" dirty="0"/>
          </a:p>
        </p:txBody>
      </p:sp>
      <p:sp>
        <p:nvSpPr>
          <p:cNvPr id="20" name="Scroll: Horizontal 8">
            <a:extLst>
              <a:ext uri="{FF2B5EF4-FFF2-40B4-BE49-F238E27FC236}">
                <a16:creationId xmlns:a16="http://schemas.microsoft.com/office/drawing/2014/main" id="{81D015E8-8A32-444C-9C5B-3A213E9CECFE}"/>
              </a:ext>
            </a:extLst>
          </p:cNvPr>
          <p:cNvSpPr/>
          <p:nvPr/>
        </p:nvSpPr>
        <p:spPr>
          <a:xfrm>
            <a:off x="9965973" y="3141399"/>
            <a:ext cx="1879004" cy="1119711"/>
          </a:xfrm>
          <a:prstGeom prst="horizontalScroll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2800" b="1" i="1" dirty="0">
                <a:solidFill>
                  <a:srgbClr val="FF0000"/>
                </a:solidFill>
              </a:rPr>
              <a:t>تنظيم الاسرة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BAA9CD-64DA-4D26-96B3-E891EFE28054}"/>
              </a:ext>
            </a:extLst>
          </p:cNvPr>
          <p:cNvSpPr txBox="1"/>
          <p:nvPr/>
        </p:nvSpPr>
        <p:spPr>
          <a:xfrm>
            <a:off x="4469533" y="3371337"/>
            <a:ext cx="57876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2800" b="1" dirty="0"/>
              <a:t>يعنى تقليل عد اطفال الاسرة الواحدة 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61897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  <p:bldP spid="8" grpId="0"/>
      <p:bldP spid="12" grpId="0" animBg="1"/>
      <p:bldP spid="14" grpId="0" animBg="1"/>
      <p:bldP spid="17" grpId="0" animBg="1"/>
      <p:bldP spid="19" grpId="0" animBg="1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3F9B0623-0B77-450D-844F-4AA1C4C3BCA9}"/>
              </a:ext>
            </a:extLst>
          </p:cNvPr>
          <p:cNvSpPr/>
          <p:nvPr/>
        </p:nvSpPr>
        <p:spPr>
          <a:xfrm>
            <a:off x="7974106" y="298164"/>
            <a:ext cx="4217894" cy="1169092"/>
          </a:xfrm>
          <a:prstGeom prst="cloudCallou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3200" b="1" i="1" dirty="0" smtClean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rPr>
              <a:t>3-</a:t>
            </a:r>
            <a:r>
              <a:rPr lang="ar-EG" sz="3200" b="1" i="1" dirty="0" smtClean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ar-EG" sz="3200" b="1" i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rPr>
              <a:t>سكان الصحارى</a:t>
            </a:r>
            <a:endParaRPr lang="en-US" sz="3200" b="1" i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9224CA-E0C8-48F8-A291-CA17BF7782CF}"/>
              </a:ext>
            </a:extLst>
          </p:cNvPr>
          <p:cNvSpPr/>
          <p:nvPr/>
        </p:nvSpPr>
        <p:spPr>
          <a:xfrm>
            <a:off x="1023513" y="789524"/>
            <a:ext cx="7046260" cy="13554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EG" sz="2800" b="1" dirty="0">
                <a:latin typeface="Arial Black" panose="020B0A04020102020204" pitchFamily="34" charset="0"/>
              </a:rPr>
              <a:t>هم الذين يعيشون في </a:t>
            </a:r>
            <a:r>
              <a:rPr lang="ar-EG" sz="2800" b="1" dirty="0">
                <a:solidFill>
                  <a:srgbClr val="FFC000"/>
                </a:solidFill>
                <a:latin typeface="Arial Black" panose="020B0A04020102020204" pitchFamily="34" charset="0"/>
              </a:rPr>
              <a:t>الصحارى المصرية </a:t>
            </a:r>
            <a:r>
              <a:rPr lang="ar-EG" sz="2800" b="1" dirty="0">
                <a:latin typeface="Arial Black" panose="020B0A04020102020204" pitchFamily="34" charset="0"/>
              </a:rPr>
              <a:t>و يطلق عليهم اسم </a:t>
            </a:r>
            <a:r>
              <a:rPr lang="ar-EG" sz="2800" b="1" dirty="0">
                <a:solidFill>
                  <a:srgbClr val="FFC000"/>
                </a:solidFill>
                <a:latin typeface="Arial Black" panose="020B0A04020102020204" pitchFamily="34" charset="0"/>
              </a:rPr>
              <a:t>البدو</a:t>
            </a:r>
            <a:r>
              <a:rPr lang="ar-EG" sz="2800" b="1" dirty="0">
                <a:latin typeface="Arial Black" panose="020B0A04020102020204" pitchFamily="34" charset="0"/>
              </a:rPr>
              <a:t> و يعملون في حرفة </a:t>
            </a:r>
            <a:r>
              <a:rPr lang="ar-EG" sz="2800" b="1" dirty="0">
                <a:solidFill>
                  <a:srgbClr val="FFC000"/>
                </a:solidFill>
                <a:latin typeface="Arial Black" panose="020B0A04020102020204" pitchFamily="34" charset="0"/>
              </a:rPr>
              <a:t>الرعي </a:t>
            </a:r>
            <a:endParaRPr lang="en-US" sz="2800" b="1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9CD9D79E-C2DC-441B-89CC-2CD21DACB3A7}"/>
              </a:ext>
            </a:extLst>
          </p:cNvPr>
          <p:cNvSpPr/>
          <p:nvPr/>
        </p:nvSpPr>
        <p:spPr>
          <a:xfrm>
            <a:off x="6877878" y="2277853"/>
            <a:ext cx="3695460" cy="819257"/>
          </a:xfrm>
          <a:prstGeom prst="snip2Same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EG" sz="2800" b="1" i="1" dirty="0">
                <a:solidFill>
                  <a:srgbClr val="FF0000"/>
                </a:solidFill>
                <a:latin typeface="Arial Black" panose="020B0A04020102020204" pitchFamily="34" charset="0"/>
              </a:rPr>
              <a:t>نسبتهم ضئيلة جدآ من سكان مصر .</a:t>
            </a:r>
            <a:endParaRPr lang="en-US" sz="2800" b="1" i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90A53103-5860-4ADE-94E3-9E1C0919B305}"/>
              </a:ext>
            </a:extLst>
          </p:cNvPr>
          <p:cNvSpPr/>
          <p:nvPr/>
        </p:nvSpPr>
        <p:spPr>
          <a:xfrm>
            <a:off x="5764696" y="3175353"/>
            <a:ext cx="4808642" cy="1537660"/>
          </a:xfrm>
          <a:prstGeom prst="wedgeEllipseCallou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ar-EG" sz="28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 rtl="1"/>
            <a:r>
              <a:rPr lang="ar-EG" sz="28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تعمل الدولة علي استقرارهم وتحسين مستوى معيشتهم من خلال  :</a:t>
            </a:r>
            <a:r>
              <a:rPr lang="ar-EG" sz="2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ar-EG" sz="2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sz="24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5AA208-584B-4F40-B760-5B7F6DB98C2B}"/>
              </a:ext>
            </a:extLst>
          </p:cNvPr>
          <p:cNvSpPr/>
          <p:nvPr/>
        </p:nvSpPr>
        <p:spPr>
          <a:xfrm>
            <a:off x="946675" y="4713012"/>
            <a:ext cx="6404386" cy="1044315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r" rtl="1"/>
            <a:r>
              <a:rPr lang="ar-EG" sz="2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1- بناء المساكن </a:t>
            </a:r>
          </a:p>
          <a:p>
            <a:pPr algn="r" rtl="1"/>
            <a:r>
              <a:rPr lang="ar-EG" sz="2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 2- توفير فرص عمل في مجالي الزراعة والتعدين </a:t>
            </a:r>
            <a:endParaRPr lang="en-US" sz="2800" b="1" i="1" dirty="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B25C5E-7327-4D5E-8BE7-7A1DC9CF7D3B}"/>
              </a:ext>
            </a:extLst>
          </p:cNvPr>
          <p:cNvSpPr txBox="1"/>
          <p:nvPr/>
        </p:nvSpPr>
        <p:spPr>
          <a:xfrm>
            <a:off x="421341" y="5913811"/>
            <a:ext cx="111771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2800" b="1" i="1" dirty="0">
                <a:latin typeface="Arial Black" panose="020B0A04020102020204" pitchFamily="34" charset="0"/>
              </a:rPr>
              <a:t>ويساعد تنوع سكان مصر في تحقيق التكامل بين السكان وتبادل المنتجات وتحقيق التنمية في جميع المجالات الاقتصادية .</a:t>
            </a:r>
            <a:endParaRPr lang="en-US" sz="2800" b="1" i="1" dirty="0">
              <a:latin typeface="Arial Black" panose="020B0A040201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BA5173-40B3-4AD0-914F-129617266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99" y="2477734"/>
            <a:ext cx="3355686" cy="2137608"/>
          </a:xfrm>
          <a:prstGeom prst="rect">
            <a:avLst/>
          </a:prstGeom>
        </p:spPr>
      </p:pic>
      <p:pic>
        <p:nvPicPr>
          <p:cNvPr id="11" name="Picture 10" descr="How To Be: صفات المبدعين">
            <a:extLst>
              <a:ext uri="{FF2B5EF4-FFF2-40B4-BE49-F238E27FC236}">
                <a16:creationId xmlns:a16="http://schemas.microsoft.com/office/drawing/2014/main" id="{A46B59CA-C20F-48B4-BECA-5FB08842F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8658" y="1550906"/>
            <a:ext cx="1705815" cy="264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peech Bubble: Oval 6">
            <a:extLst>
              <a:ext uri="{FF2B5EF4-FFF2-40B4-BE49-F238E27FC236}">
                <a16:creationId xmlns:a16="http://schemas.microsoft.com/office/drawing/2014/main" id="{90A53103-5860-4ADE-94E3-9E1C0919B305}"/>
              </a:ext>
            </a:extLst>
          </p:cNvPr>
          <p:cNvSpPr/>
          <p:nvPr/>
        </p:nvSpPr>
        <p:spPr>
          <a:xfrm>
            <a:off x="5764696" y="3175352"/>
            <a:ext cx="4808642" cy="1537660"/>
          </a:xfrm>
          <a:prstGeom prst="wedgeEllipseCallou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ar-EG" sz="28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 rtl="1"/>
            <a:r>
              <a:rPr lang="ar-EG" sz="28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تعمل الدولة علي استقرارهم وتحسين مستوى معيشتهم من خلال  :</a:t>
            </a:r>
            <a:r>
              <a:rPr lang="ar-EG" sz="2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ar-EG" sz="2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sz="24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3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52903A-BCDF-4471-805B-AAC85D6CC776}"/>
              </a:ext>
            </a:extLst>
          </p:cNvPr>
          <p:cNvSpPr txBox="1"/>
          <p:nvPr/>
        </p:nvSpPr>
        <p:spPr>
          <a:xfrm>
            <a:off x="1821239" y="378163"/>
            <a:ext cx="7992931" cy="70788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ar-EG" sz="4000" b="1" i="1" dirty="0">
                <a:solidFill>
                  <a:srgbClr val="FF0000"/>
                </a:solidFill>
                <a:latin typeface="Arial Black" panose="020B0A04020102020204" pitchFamily="34" charset="0"/>
              </a:rPr>
              <a:t>مصر من أقدم الدول التي اجرت عدًا للسكان :</a:t>
            </a:r>
            <a:endParaRPr lang="en-US" sz="4000" b="1" i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E855114-A3A3-49D3-B20B-B416C99C37A6}"/>
              </a:ext>
            </a:extLst>
          </p:cNvPr>
          <p:cNvSpPr/>
          <p:nvPr/>
        </p:nvSpPr>
        <p:spPr>
          <a:xfrm>
            <a:off x="9674711" y="1959673"/>
            <a:ext cx="2431229" cy="101659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مصر القديمة 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B5F2ED3F-DC04-4348-9C06-1CC6A1CF015E}"/>
              </a:ext>
            </a:extLst>
          </p:cNvPr>
          <p:cNvSpPr/>
          <p:nvPr/>
        </p:nvSpPr>
        <p:spPr>
          <a:xfrm>
            <a:off x="2832377" y="1506942"/>
            <a:ext cx="6712772" cy="1774140"/>
          </a:xfrm>
          <a:prstGeom prst="flowChartProcess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sz="2400" b="1" dirty="0"/>
              <a:t>اجرى المصريون القدماء عدآ للافراد في عامى 334ق.م و 305ق.م 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sz="2400" b="1" dirty="0"/>
              <a:t>تم تقدير متوسط عدد الاسر و صغار السن وعدد الجنود و الضباط الصالحين للخدمة العسكرية فى عهد امنحتب الثالث </a:t>
            </a:r>
            <a:r>
              <a:rPr lang="ar-EG" sz="2800" b="1" dirty="0"/>
              <a:t>.</a:t>
            </a:r>
            <a:endParaRPr lang="en-US" sz="2800" b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851912-06F7-4AD7-BC20-8DC328825296}"/>
              </a:ext>
            </a:extLst>
          </p:cNvPr>
          <p:cNvSpPr/>
          <p:nvPr/>
        </p:nvSpPr>
        <p:spPr>
          <a:xfrm>
            <a:off x="9545149" y="3576918"/>
            <a:ext cx="2603351" cy="101659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مصر الاسلامية 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741C1682-D7D7-4B3C-BC91-7FCE728F547A}"/>
              </a:ext>
            </a:extLst>
          </p:cNvPr>
          <p:cNvSpPr/>
          <p:nvPr/>
        </p:nvSpPr>
        <p:spPr>
          <a:xfrm>
            <a:off x="2832377" y="3520596"/>
            <a:ext cx="6712772" cy="1355464"/>
          </a:xfrm>
          <a:prstGeom prst="flowChartProcess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sz="2400" b="1" dirty="0"/>
              <a:t>تم اجراء عد الافراد و تحديد محل اقامتهم في عصر الدولة الاسلامية 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sz="2400" b="1" dirty="0"/>
              <a:t>استمر اجراء العد 6 اشهر </a:t>
            </a:r>
            <a:endParaRPr lang="en-US" sz="2400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5ADAF6-2DC6-48BB-95F3-65DEB4955E42}"/>
              </a:ext>
            </a:extLst>
          </p:cNvPr>
          <p:cNvSpPr/>
          <p:nvPr/>
        </p:nvSpPr>
        <p:spPr>
          <a:xfrm>
            <a:off x="9545149" y="5099125"/>
            <a:ext cx="2603351" cy="1016598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مصر الحديثة 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6012351D-4C17-4601-BCA5-5F1B568874CB}"/>
              </a:ext>
            </a:extLst>
          </p:cNvPr>
          <p:cNvSpPr/>
          <p:nvPr/>
        </p:nvSpPr>
        <p:spPr>
          <a:xfrm>
            <a:off x="2832377" y="5171896"/>
            <a:ext cx="6712772" cy="1355464"/>
          </a:xfrm>
          <a:prstGeom prst="flowChartProcess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sz="2400" b="1" dirty="0"/>
              <a:t>* تقوم مصر بعد سكانها كل عشر سنوات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sz="2400" b="1" dirty="0"/>
              <a:t>سيتم اجراء العد السكانى القادم عام 2027 </a:t>
            </a:r>
            <a:r>
              <a:rPr lang="ar-EG" dirty="0"/>
              <a:t>م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A11FA9-F614-4743-9B65-A968CE0DA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26" y="3281082"/>
            <a:ext cx="2420471" cy="17155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C31B04-C352-466A-9A9E-CB70480EB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26" y="1637443"/>
            <a:ext cx="2417825" cy="15635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AAA1819-77C6-47D9-A4E5-72999BF211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62" y="5076756"/>
            <a:ext cx="2451189" cy="173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86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5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49" y="661553"/>
            <a:ext cx="4054629" cy="5794665"/>
          </a:xfrm>
          <a:prstGeom prst="rect">
            <a:avLst/>
          </a:prstGeom>
        </p:spPr>
      </p:pic>
      <p:sp>
        <p:nvSpPr>
          <p:cNvPr id="3" name="Oval Callout 2"/>
          <p:cNvSpPr/>
          <p:nvPr/>
        </p:nvSpPr>
        <p:spPr>
          <a:xfrm>
            <a:off x="5867400" y="1533526"/>
            <a:ext cx="5229225" cy="3333750"/>
          </a:xfrm>
          <a:prstGeom prst="wedgeEllipseCallou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000" b="1" i="1" dirty="0" smtClean="0">
                <a:solidFill>
                  <a:schemeClr val="bg1"/>
                </a:solidFill>
              </a:rPr>
              <a:t>الي اللقاء في الدرس القادم .</a:t>
            </a:r>
            <a:endParaRPr lang="en-US" sz="40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699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539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Noha Adel</dc:creator>
  <cp:lastModifiedBy>hp</cp:lastModifiedBy>
  <cp:revision>16</cp:revision>
  <dcterms:created xsi:type="dcterms:W3CDTF">2022-02-14T10:31:42Z</dcterms:created>
  <dcterms:modified xsi:type="dcterms:W3CDTF">2022-02-19T17:59:50Z</dcterms:modified>
</cp:coreProperties>
</file>